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7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8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11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2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13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3311f5a9-9824-5460-610c-cbb43b0787b0}">
          <p14:sldIdLst>
            <p14:sldId id="256"/>
            <p14:sldId id="257"/>
            <p14:sldId id="258"/>
          </p14:sldIdLst>
        </p14:section>
        <p14:section name="Historia" id="{5aef9953-286c-c022-9167-775c10444ccc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Teoría aplicada" id="{add9c541-b8b0-e385-339b-b6f2524c7ab4}">
          <p14:sldIdLst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Debate" id="{c67f94cb-c4e4-4f69-191b-4b3bb14ee961}">
          <p14:sldIdLst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Anexos del caso" id="{bdda0d5e-d124-bdc5-3d1a-7f303dba0d59}">
          <p14:sldIdLst>
            <p14:sldId id="279"/>
            <p14:sldId id="280"/>
          </p14:sldIdLst>
        </p14:section>
        <p14:section name="2020–2026" id="{72e49fa4-f112-6c32-84ff-0590568b4a37}">
          <p14:sldIdLst>
            <p14:sldId id="281"/>
            <p14:sldId id="282"/>
            <p14:sldId id="283"/>
            <p14:sldId id="284"/>
          </p14:sldIdLst>
        </p14:section>
        <p14:section name="Cierre" id="{c827705b-1dab-7af9-f5ee-6dc92f09a0f0}">
          <p14:sldIdLst>
            <p14:sldId id="285"/>
          </p14:sldIdLst>
        </p14:section>
        <p14:section name="Glosario" id="{0d166803-67a4-90c8-f57f-23abce85c992}">
          <p14:sldIdLst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32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C2329"/>
                </a:solidFill>
                <a:latin typeface="+mn-lt"/>
              </a:rPr>
              <a:t>Cuenta corriente, % del PIB (años seleccionados)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CC/PIB (%)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3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cat>
            <c:multiLvlStrRef>
              <c:f>Sheet1!$A$2:$A$16</c:f>
              <c:multiLvlStrCache>
                <c:ptCount val="15"/>
                <c:lvl>
                  <c:pt idx="0">
                    <c:v>1980</c:v>
                  </c:pt>
                  <c:pt idx="1">
                    <c:v>1984</c:v>
                  </c:pt>
                  <c:pt idx="2">
                    <c:v>1988</c:v>
                  </c:pt>
                  <c:pt idx="3">
                    <c:v>1992</c:v>
                  </c:pt>
                  <c:pt idx="4">
                    <c:v>2000</c:v>
                  </c:pt>
                  <c:pt idx="5">
                    <c:v>2002</c:v>
                  </c:pt>
                  <c:pt idx="6">
                    <c:v>2005</c:v>
                  </c:pt>
                  <c:pt idx="7">
                    <c:v>2007</c:v>
                  </c:pt>
                  <c:pt idx="8">
                    <c:v>2009</c:v>
                  </c:pt>
                  <c:pt idx="9">
                    <c:v>2013</c:v>
                  </c:pt>
                  <c:pt idx="10">
                    <c:v>2016</c:v>
                  </c:pt>
                  <c:pt idx="11">
                    <c:v>2019</c:v>
                  </c:pt>
                  <c:pt idx="12">
                    <c:v>2020</c:v>
                  </c:pt>
                  <c:pt idx="13">
                    <c:v>2024</c:v>
                  </c:pt>
                  <c:pt idx="14">
                    <c:v>2025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0.1</c:v>
                </c:pt>
                <c:pt idx="1">
                  <c:v>-2.4</c:v>
                </c:pt>
                <c:pt idx="2">
                  <c:v>-2.3</c:v>
                </c:pt>
                <c:pt idx="3">
                  <c:v>-0.8</c:v>
                </c:pt>
                <c:pt idx="4">
                  <c:v>-3.9</c:v>
                </c:pt>
                <c:pt idx="5">
                  <c:v>-4.2</c:v>
                </c:pt>
                <c:pt idx="6">
                  <c:v>-5.8</c:v>
                </c:pt>
                <c:pt idx="7">
                  <c:v>-5.1</c:v>
                </c:pt>
                <c:pt idx="8">
                  <c:v>-2.6</c:v>
                </c:pt>
                <c:pt idx="9">
                  <c:v>-2</c:v>
                </c:pt>
                <c:pt idx="10">
                  <c:v>-2.1</c:v>
                </c:pt>
                <c:pt idx="11">
                  <c:v>-2.2</c:v>
                </c:pt>
                <c:pt idx="12">
                  <c:v>-3.1</c:v>
                </c:pt>
                <c:pt idx="13">
                  <c:v>-4.1</c:v>
                </c:pt>
                <c:pt idx="14">
                  <c:v>-3.8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C23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7"/>
        </c:scaling>
        <c:delete val="0"/>
        <c:axPos val="l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32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C2329"/>
                </a:solidFill>
                <a:latin typeface="+mn-lt"/>
              </a:rPr>
              <a:t>Tenencias de Treasuries, oficiales y privadas, mm de US$ (Anexo 7a)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China</c:v>
                </c:pt>
              </c:strCache>
            </c:strRef>
          </c:tx>
          <c:spPr>
            <a:solidFill>
              <a:srgbClr val="C8553D"/>
            </a:solidFill>
            <a:ln w="38100" cap="flat">
              <a:solidFill>
                <a:srgbClr val="C855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329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2000</c:v>
                  </c:pt>
                  <c:pt idx="1">
                    <c:v>2002</c:v>
                  </c:pt>
                  <c:pt idx="2">
                    <c:v>2004</c:v>
                  </c:pt>
                  <c:pt idx="3">
                    <c:v>2006</c:v>
                  </c:pt>
                  <c:pt idx="4">
                    <c:v>2008</c:v>
                  </c:pt>
                  <c:pt idx="5">
                    <c:v>2010</c:v>
                  </c:pt>
                  <c:pt idx="6">
                    <c:v>2014</c:v>
                  </c:pt>
                  <c:pt idx="7">
                    <c:v>2016</c:v>
                  </c:pt>
                  <c:pt idx="8">
                    <c:v>2019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60</c:v>
                </c:pt>
                <c:pt idx="1">
                  <c:v>118</c:v>
                </c:pt>
                <c:pt idx="2">
                  <c:v>223</c:v>
                </c:pt>
                <c:pt idx="3">
                  <c:v>397</c:v>
                </c:pt>
                <c:pt idx="4">
                  <c:v>727</c:v>
                </c:pt>
                <c:pt idx="5">
                  <c:v>1160</c:v>
                </c:pt>
                <c:pt idx="6">
                  <c:v>1244</c:v>
                </c:pt>
                <c:pt idx="7">
                  <c:v>1058</c:v>
                </c:pt>
                <c:pt idx="8">
                  <c:v>1070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Japón</c:v>
                </c:pt>
              </c:strCache>
            </c:strRef>
          </c:tx>
          <c:spPr>
            <a:solidFill>
              <a:srgbClr val="0F3D3E"/>
            </a:solidFill>
            <a:ln w="38100" cap="flat">
              <a:solidFill>
                <a:srgbClr val="0F3D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329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F3D3E"/>
              </a:solidFill>
              <a:ln w="9525" cap="flat">
                <a:solidFill>
                  <a:srgbClr val="0F3D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2000</c:v>
                  </c:pt>
                  <c:pt idx="1">
                    <c:v>2002</c:v>
                  </c:pt>
                  <c:pt idx="2">
                    <c:v>2004</c:v>
                  </c:pt>
                  <c:pt idx="3">
                    <c:v>2006</c:v>
                  </c:pt>
                  <c:pt idx="4">
                    <c:v>2008</c:v>
                  </c:pt>
                  <c:pt idx="5">
                    <c:v>2010</c:v>
                  </c:pt>
                  <c:pt idx="6">
                    <c:v>2014</c:v>
                  </c:pt>
                  <c:pt idx="7">
                    <c:v>2016</c:v>
                  </c:pt>
                  <c:pt idx="8">
                    <c:v>2019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318</c:v>
                </c:pt>
                <c:pt idx="1">
                  <c:v>378</c:v>
                </c:pt>
                <c:pt idx="2">
                  <c:v>690</c:v>
                </c:pt>
                <c:pt idx="3">
                  <c:v>623</c:v>
                </c:pt>
                <c:pt idx="4">
                  <c:v>626</c:v>
                </c:pt>
                <c:pt idx="5">
                  <c:v>882</c:v>
                </c:pt>
                <c:pt idx="6">
                  <c:v>1231</c:v>
                </c:pt>
                <c:pt idx="7">
                  <c:v>1091</c:v>
                </c:pt>
                <c:pt idx="8">
                  <c:v>1155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2329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"/>
          <c:min val="0"/>
        </c:scaling>
        <c:delete val="0"/>
        <c:axPos val="l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6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32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C2329"/>
                </a:solidFill>
                <a:latin typeface="+mn-lt"/>
              </a:rPr>
              <a:t>Componentes de la cuenta corriente 2019, % del PIB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del PIB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3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Bienes</c:v>
                  </c:pt>
                  <c:pt idx="1">
                    <c:v>Servicios</c:v>
                  </c:pt>
                  <c:pt idx="2">
                    <c:v>Ingresos</c:v>
                  </c:pt>
                  <c:pt idx="3">
                    <c:v>Transferencias</c:v>
                  </c:pt>
                  <c:pt idx="4">
                    <c:v>Cuenta corriente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-4</c:v>
                </c:pt>
                <c:pt idx="1">
                  <c:v>1.3</c:v>
                </c:pt>
                <c:pt idx="2">
                  <c:v>1.1</c:v>
                </c:pt>
                <c:pt idx="3">
                  <c:v>-0.7</c:v>
                </c:pt>
                <c:pt idx="4">
                  <c:v>-2.2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C23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-5"/>
        </c:scaling>
        <c:delete val="0"/>
        <c:axPos val="l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32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C2329"/>
                </a:solidFill>
                <a:latin typeface="+mn-lt"/>
              </a:rPr>
              <a:t>Componentes de ΔPIIN, US$ mm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Cuenta corriente</c:v>
                </c:pt>
              </c:strCache>
            </c:strRef>
          </c:tx>
          <c:spPr>
            <a:solidFill>
              <a:srgbClr val="8A9B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3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2007</c:v>
                  </c:pt>
                  <c:pt idx="1">
                    <c:v>2008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-737</c:v>
                </c:pt>
                <c:pt idx="1">
                  <c:v>-697</c:v>
                </c:pt>
                <c:pt idx="2">
                  <c:v>-365</c:v>
                </c:pt>
                <c:pt idx="3">
                  <c:v>-450</c:v>
                </c:pt>
                <c:pt idx="4">
                  <c:v>-480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Valoración</c:v>
                </c:pt>
              </c:strCache>
            </c:strRef>
          </c:tx>
          <c:spPr>
            <a:solidFill>
              <a:srgbClr val="0F3D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3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2007</c:v>
                  </c:pt>
                  <c:pt idx="1">
                    <c:v>2008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1266</c:v>
                </c:pt>
                <c:pt idx="1">
                  <c:v>-2019</c:v>
                </c:pt>
                <c:pt idx="2">
                  <c:v>872</c:v>
                </c:pt>
                <c:pt idx="3">
                  <c:v>-1603</c:v>
                </c:pt>
                <c:pt idx="4">
                  <c:v>-896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23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6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32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C2329"/>
                </a:solidFill>
                <a:latin typeface="+mn-lt"/>
              </a:rPr>
              <a:t>Volatilidad y apertura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EE.UU.</c:v>
                </c:pt>
              </c:strCache>
            </c:strRef>
          </c:tx>
          <c:spPr>
            <a:solidFill>
              <a:srgbClr val="0F3D3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3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σ(y) %</c:v>
                  </c:pt>
                  <c:pt idx="1">
                    <c:v>Apertura (X+M)/Y %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2.9</c:v>
                </c:pt>
                <c:pt idx="1">
                  <c:v>18.9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Mundo</c:v>
                </c:pt>
              </c:strCache>
            </c:strRef>
          </c:tx>
          <c:spPr>
            <a:solidFill>
              <a:srgbClr val="8A9BA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3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σ(y) %</c:v>
                  </c:pt>
                  <c:pt idx="1">
                    <c:v>Apertura (X+M)/Y %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6.2</c:v>
                </c:pt>
                <c:pt idx="1">
                  <c:v>36.5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C23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6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32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C2329"/>
                </a:solidFill>
                <a:latin typeface="+mn-lt"/>
              </a:rPr>
              <a:t>Ciclicidad (Hechos 5 y 10)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EE.UU.</c:v>
                </c:pt>
              </c:strCache>
            </c:strRef>
          </c:tx>
          <c:spPr>
            <a:solidFill>
              <a:srgbClr val="0F3D3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3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corr(tb/y, y)</c:v>
                  </c:pt>
                  <c:pt idx="1">
                    <c:v>corr(g/y, y)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-0.51</c:v>
                </c:pt>
                <c:pt idx="1">
                  <c:v>-0.32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Mundo</c:v>
                </c:pt>
              </c:strCache>
            </c:strRef>
          </c:tx>
          <c:spPr>
            <a:solidFill>
              <a:srgbClr val="8A9BA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3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corr(tb/y, y)</c:v>
                  </c:pt>
                  <c:pt idx="1">
                    <c:v>corr(g/y, y)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-0.15</c:v>
                </c:pt>
                <c:pt idx="1">
                  <c:v>-0.02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C23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0.6"/>
        </c:scaling>
        <c:delete val="0"/>
        <c:axPos val="l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6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32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C2329"/>
                </a:solidFill>
                <a:latin typeface="+mn-lt"/>
              </a:rPr>
              <a:t>PIIN (valor absoluto) y exportaciones, % del PIB, cifras del caso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PIIN (% del PIB)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3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EE. UU.</c:v>
                  </c:pt>
                  <c:pt idx="1">
                    <c:v>Australia</c:v>
                  </c:pt>
                  <c:pt idx="2">
                    <c:v>Nueva Zelanda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59</c:v>
                </c:pt>
                <c:pt idx="2">
                  <c:v>131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Exportaciones (% del PIB)</c:v>
                </c:pt>
              </c:strCache>
            </c:strRef>
          </c:tx>
          <c:spPr>
            <a:solidFill>
              <a:srgbClr val="0F3D3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3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EE. UU.</c:v>
                  </c:pt>
                  <c:pt idx="1">
                    <c:v>Australia</c:v>
                  </c:pt>
                  <c:pt idx="2">
                    <c:v>Nueva Zelanda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17</c:v>
                </c:pt>
                <c:pt idx="2">
                  <c:v>35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C23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0"/>
        <c:axPos val="l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B66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32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C2329"/>
                </a:solidFill>
                <a:latin typeface="+mn-lt"/>
              </a:rPr>
              <a:t>Saldo del gobierno federal, % del PIB (Anexo 3a)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Saldo federal (% del PIB)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3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1980</c:v>
                  </c:pt>
                  <c:pt idx="1">
                    <c:v>1984</c:v>
                  </c:pt>
                  <c:pt idx="2">
                    <c:v>1992</c:v>
                  </c:pt>
                  <c:pt idx="3">
                    <c:v>2000</c:v>
                  </c:pt>
                  <c:pt idx="4">
                    <c:v>2005</c:v>
                  </c:pt>
                  <c:pt idx="5">
                    <c:v>2007</c:v>
                  </c:pt>
                  <c:pt idx="6">
                    <c:v>2009</c:v>
                  </c:pt>
                  <c:pt idx="7">
                    <c:v>2010</c:v>
                  </c:pt>
                  <c:pt idx="8">
                    <c:v>2014</c:v>
                  </c:pt>
                  <c:pt idx="9">
                    <c:v>2016</c:v>
                  </c:pt>
                  <c:pt idx="10">
                    <c:v>2018</c:v>
                  </c:pt>
                  <c:pt idx="11">
                    <c:v>2019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-2.6</c:v>
                </c:pt>
                <c:pt idx="1">
                  <c:v>-4.7</c:v>
                </c:pt>
                <c:pt idx="2">
                  <c:v>-4.5</c:v>
                </c:pt>
                <c:pt idx="3">
                  <c:v>2.4</c:v>
                </c:pt>
                <c:pt idx="4">
                  <c:v>-2.4</c:v>
                </c:pt>
                <c:pt idx="5">
                  <c:v>-1.2</c:v>
                </c:pt>
                <c:pt idx="6">
                  <c:v>-9.8</c:v>
                </c:pt>
                <c:pt idx="7">
                  <c:v>-8.7</c:v>
                </c:pt>
                <c:pt idx="8">
                  <c:v>-2.8</c:v>
                </c:pt>
                <c:pt idx="9">
                  <c:v>-2.9</c:v>
                </c:pt>
                <c:pt idx="10">
                  <c:v>-4.1</c:v>
                </c:pt>
                <c:pt idx="11">
                  <c:v>-4.6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C23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-12"/>
        </c:scaling>
        <c:delete val="0"/>
        <c:axPos val="l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329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C2329"/>
                </a:solidFill>
                <a:latin typeface="+mn-lt"/>
              </a:rPr>
              <a:t>Empleo manufacturero por subsector, % de variación 2000–2018 (Anexo 10a)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Variación del empleo 2000–2018 (%)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3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Vestuario</c:v>
                  </c:pt>
                  <c:pt idx="1">
                    <c:v>Textiles</c:v>
                  </c:pt>
                  <c:pt idx="2">
                    <c:v>Muebles</c:v>
                  </c:pt>
                  <c:pt idx="3">
                    <c:v>Computación</c:v>
                  </c:pt>
                  <c:pt idx="4">
                    <c:v>Metales prim.</c:v>
                  </c:pt>
                  <c:pt idx="5">
                    <c:v>Maquinaria</c:v>
                  </c:pt>
                  <c:pt idx="6">
                    <c:v>Equipo transp.</c:v>
                  </c:pt>
                  <c:pt idx="7">
                    <c:v>Alimentos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-76.6</c:v>
                </c:pt>
                <c:pt idx="1">
                  <c:v>-70.3</c:v>
                </c:pt>
                <c:pt idx="2">
                  <c:v>-42.2</c:v>
                </c:pt>
                <c:pt idx="3">
                  <c:v>-42.2</c:v>
                </c:pt>
                <c:pt idx="4">
                  <c:v>-39.8</c:v>
                </c:pt>
                <c:pt idx="5">
                  <c:v>-23.2</c:v>
                </c:pt>
                <c:pt idx="6">
                  <c:v>-17.3</c:v>
                </c:pt>
                <c:pt idx="7">
                  <c:v>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C23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-90"/>
        </c:scaling>
        <c:delete val="0"/>
        <c:axPos val="b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329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C2329"/>
                </a:solidFill>
                <a:latin typeface="+mn-lt"/>
              </a:rPr>
              <a:t>China, % de las importaciones de bienes de EE. UU. (Anexo 11)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China, % de las importaciones de bienes</c:v>
                </c:pt>
              </c:strCache>
            </c:strRef>
          </c:tx>
          <c:spPr>
            <a:solidFill>
              <a:srgbClr val="C8553D"/>
            </a:solidFill>
            <a:ln w="38100" cap="flat">
              <a:solidFill>
                <a:srgbClr val="C8553D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329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1982</c:v>
                  </c:pt>
                  <c:pt idx="1">
                    <c:v>1990</c:v>
                  </c:pt>
                  <c:pt idx="2">
                    <c:v>1998</c:v>
                  </c:pt>
                  <c:pt idx="3">
                    <c:v>2002</c:v>
                  </c:pt>
                  <c:pt idx="4">
                    <c:v>2005</c:v>
                  </c:pt>
                  <c:pt idx="5">
                    <c:v>2008</c:v>
                  </c:pt>
                  <c:pt idx="6">
                    <c:v>2010</c:v>
                  </c:pt>
                  <c:pt idx="7">
                    <c:v>2015</c:v>
                  </c:pt>
                  <c:pt idx="8">
                    <c:v>2018</c:v>
                  </c:pt>
                  <c:pt idx="9">
                    <c:v>2019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3</c:v>
                </c:pt>
                <c:pt idx="2">
                  <c:v>8</c:v>
                </c:pt>
                <c:pt idx="3">
                  <c:v>11</c:v>
                </c:pt>
                <c:pt idx="4">
                  <c:v>14</c:v>
                </c:pt>
                <c:pt idx="5">
                  <c:v>16</c:v>
                </c:pt>
                <c:pt idx="6">
                  <c:v>19</c:v>
                </c:pt>
                <c:pt idx="7">
                  <c:v>21</c:v>
                </c:pt>
                <c:pt idx="8">
                  <c:v>21</c:v>
                </c:pt>
                <c:pt idx="9">
                  <c:v>18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C2329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32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C2329"/>
                </a:solidFill>
                <a:latin typeface="+mn-lt"/>
              </a:rPr>
              <a:t>Posición de inversión internacional neta, % del PIB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PIIN/PIB (%)</c:v>
                </c:pt>
              </c:strCache>
            </c:strRef>
          </c:tx>
          <c:spPr>
            <a:solidFill>
              <a:srgbClr val="C8553D"/>
            </a:solidFill>
            <a:ln w="38100" cap="flat">
              <a:solidFill>
                <a:srgbClr val="C8553D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329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1980</c:v>
                  </c:pt>
                  <c:pt idx="1">
                    <c:v>1988</c:v>
                  </c:pt>
                  <c:pt idx="2">
                    <c:v>1992</c:v>
                  </c:pt>
                  <c:pt idx="3">
                    <c:v>2000</c:v>
                  </c:pt>
                  <c:pt idx="4">
                    <c:v>2002</c:v>
                  </c:pt>
                  <c:pt idx="5">
                    <c:v>2007</c:v>
                  </c:pt>
                  <c:pt idx="6">
                    <c:v>2008</c:v>
                  </c:pt>
                  <c:pt idx="7">
                    <c:v>2014</c:v>
                  </c:pt>
                  <c:pt idx="8">
                    <c:v>2019</c:v>
                  </c:pt>
                  <c:pt idx="9">
                    <c:v>2020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</c:v>
                </c:pt>
                <c:pt idx="1">
                  <c:v>0</c:v>
                </c:pt>
                <c:pt idx="2">
                  <c:v>-7</c:v>
                </c:pt>
                <c:pt idx="3">
                  <c:v>-15</c:v>
                </c:pt>
                <c:pt idx="4">
                  <c:v>-22</c:v>
                </c:pt>
                <c:pt idx="5">
                  <c:v>-9</c:v>
                </c:pt>
                <c:pt idx="6">
                  <c:v>-27</c:v>
                </c:pt>
                <c:pt idx="7">
                  <c:v>-40</c:v>
                </c:pt>
                <c:pt idx="8">
                  <c:v>-52</c:v>
                </c:pt>
                <c:pt idx="9">
                  <c:v>-67</c:v>
                </c:pt>
                <c:pt idx="10">
                  <c:v>-89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C2329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-100"/>
        </c:scaling>
        <c:delete val="0"/>
        <c:axPos val="l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32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C2329"/>
                </a:solidFill>
                <a:latin typeface="+mn-lt"/>
              </a:rPr>
              <a:t>Ingreso primario neto, US$ mm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 primario neto (US$ mm)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3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2019</c:v>
                  </c:pt>
                  <c:pt idx="1">
                    <c:v>2020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236</c:v>
                </c:pt>
                <c:pt idx="1">
                  <c:v>182</c:v>
                </c:pt>
                <c:pt idx="2">
                  <c:v>-69</c:v>
                </c:pt>
                <c:pt idx="3">
                  <c:v>-48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23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-100"/>
        </c:scaling>
        <c:delete val="0"/>
        <c:axPos val="l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32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C2329"/>
                </a:solidFill>
                <a:latin typeface="+mn-lt"/>
              </a:rPr>
              <a:t>Cambio del déficit comercial en 2025, US$ mm (+ = más déficit)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Cambio 2025 vs 2024 (US$ mm)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3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3D3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China</c:v>
                  </c:pt>
                  <c:pt idx="1">
                    <c:v>Taiwán</c:v>
                  </c:pt>
                  <c:pt idx="2">
                    <c:v>Vietnam</c:v>
                  </c:pt>
                  <c:pt idx="3">
                    <c:v>México</c:v>
                  </c:pt>
                  <c:pt idx="4">
                    <c:v>Total bienes y servicios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-93</c:v>
                </c:pt>
                <c:pt idx="1">
                  <c:v>73</c:v>
                </c:pt>
                <c:pt idx="2">
                  <c:v>55</c:v>
                </c:pt>
                <c:pt idx="3">
                  <c:v>25</c:v>
                </c:pt>
                <c:pt idx="4">
                  <c:v>-2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23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-120"/>
        </c:scaling>
        <c:delete val="0"/>
        <c:axPos val="b"/>
        <c:majorGridlines>
          <c:spPr>
            <a:ln w="9525" cap="flat">
              <a:solidFill>
                <a:srgbClr val="D5DD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caso HBS sobre el déficit en cuenta corriente de EE.UU. Estructura: historia del déficit, herramientas teóricas de la clase aplicadas a los datos, el debate sobre sostenibilidad y la actualización 2020–2026.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central. El caso termina en 2019–2020 con un debate abierto entre optimistas y pesimistas. Los datos posteriores resuelven parte del debate: no hubo crisis de financiamiento, pero la paradoja PIIN–INI terminó y la PIIN se acercó a −90% del PIB.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caso abre con la pandemia y la agenda de Trump: reforma tributaria, guerra comercial y renegociación del TLCAN. En el 4T de 2019 el déficit en cuenta corriente cayó 12,4%, a US$ 109,8 mm, por la guerra comercial y porque EE. UU. pasó a ser exportador neto de crudo. La contrapartida del déficit es la entrada de capitales: la PIIN, positiva en 1988, era de ≈ −US$ 9,7 billones en 2018. El texto dice 'US$ 9,6 billion', un error de unidad.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histórica: los grandes desequilibrios no son nuevos. Bajo el patrón oro, EE.UU. era un deudor emergente que financiaba infraestructura. Bretton Woods colapsó por el dilema de Triffin: el emisor de la moneda de reserva acumuló pasivos por encima de su oro. EE.UU. es deudor neto desde 1986 (costo corriente) o 1989 (precios de mercado), según la nota 51.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Ratios calculados dividiendo la CC del Anexo 4a por el PIB del Anexo 2a. 2020 viene de la lámina 13 de la clase (−3,1%). 2024 y 2025 vienen de la BEA (revisión de junio de 2026); la publicación de marzo de 2026 daba −3,6% para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la identidad de ahorro e inversión. Lección para la prueba: un arancel solo reduce la CC si sube el ahorro o baja la inversión. Por eso el caso advierte que el déficit fiscal de Trump podría ampliar la CC pese a los aranceles.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Bretton Woods II en los datos: Asia compra dólares para evitar que sus monedas se aprecien. Entre 2001 y 2012, los déficits sumaron US$ 7,1 billones pero la PIIN cayó solo US$ 2,6 billones, por la valoración. Hausmann y Sturzenegger llamaron materia oscura a la brecha entre una PIIN negativa y un ingreso neto positivo.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Trilema: el patrón oro eligió tipo fijo y movilidad, sin autonomía; Bretton Woods eligió tipo fijo y autonomía, con controles. Triffin explica el colapso de Bretton Woods. Hume describe el ajuste deflacionario bajo el oro, y Fisher por qué esa deflación perjudicaba a los deudores. La curva J es una lectura teórica del rezago entre el Plaza y la mejora de la cuenta corriente. El caso destaca además el mayor crecimiento del resto del mundo.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Descomposición de la clase de Desbalances globales aplicada a 2019. En 2020 (lámina 13): CC −647,2 (−3,1%), bienes −915,6, servicios +233,9, ingresos +181,6, transferencias −147,1.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cuenta corriente es un flujo y la PIIN un stock, pero el stock también cambia por precios. 2007 y 2017: ganancias por dólar débil. 2008: pérdidas por caída de las bolsas extranjeras. 2018–2019: pérdidas por dólar fuerte y acciones de EE.UU. que rinden más que las extranjeras.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clase calcula ambas hipótesis con datos de 2020. Aquí se replican con los datos de 2019 del caso. Actualización: desde 2024 el ingreso primario neto es negativo (revisión de junio de 2026), así que la paradoja terminó y la materia oscura quedó refutada por sus propios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Derivación: PIIN_t = (1+r)PIIN_{t−1} + TB_t. Se divide por Y_t = (1+g)Y_{t−1}. En estado estacionario, tb = b(g − r)/(1 + g). Con r &lt; g, un deudor puede tener un déficit pequeño; el de EE.UU. es cinco veces mayor que el que estabiliza la razón.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Hecho 1: EE.UU. es la mitad de volátil que el promedio mundial. Hecho 5: balanza comercial contracíclica, más marcada en EE.UU. Hecho 10: la participación del consumo del gobierno en el producto es contracíclica en los países ricos. 2020 es una excepción: la CC se amplió en la recesión.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Solow cerrado: S = I = sY. Al abrir la economía la inversión se separa del ahorro y la diferencia es la cuenta corriente. Productividad: índice de 76 en 2000 a 108 en 2019 (Anexo 1a). Trichet en el caso: capital que fluye del mundo en desarrollo al industrializado.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Greenspan concluyó que la globalización elevaba la probabilidad de una resolución benigna. Quarles, del Tesoro, llamó al déficit 'nuestro regalo al mundo'. Summers habló de 'equilibrio del terror financiero'; otros, de financiamiento del proveedor o Bretton Woods II. Críticos como Mann señalaron la asimetría de Houthakker–Magee: con tipo de cambio constante, la CC puede no mejorar aunque el mundo crezca 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caso muestra que no había garantía de que Asia siguiera comprando dólares. Desde EE. UU., las compras de Treasuries abarataban el crédito, pero ampliaban el déficit comercial y alimentaban el proteccionismo. China subió en la cadena de valor: de textiles y muebles a electrónica y autopartes (Anexos 10 y 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mayoría de los economistas dudaba que EE. UU. pudiera sostener una PIIN de niveles equivalentes a los de Australia o Nueva Zelanda, porque exporta solo 10% del PIB. Ojo: ese 10% viene de una fuente de 2004; en 2019 las exportaciones eran 12% del PIB (Anexo 2a). Buiter aceptó solo US$ 0,5 billones de materia oscura. Buiter rechazó la materia oscura: la paradoja se resolvería cuando el ingreso neto se volviera negativo, y así ocurrió en 2024–2025. La revolución del esquisto subió la producción de petróleo 120% entre 2008 y 2018 y redujo la necesidad de importar.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escenario de aterrizaje forzoso: una gran depreciación del dólar provoca inflación y alza de tasas largas; caen acciones y viviendas; la recesión en EE. UU. arrastra al mundo, más fuerte en Europa y Japón (Blanchard, Giavazzi y Sa). El déficit fiscal bajó a ≈ 7% en 2012, 2,4% en 2015 y volvió a 3,5% en 2017.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las tres fuerzas que, según el caso, podían ampliar el déficit, las dos primeras operan por el mecanismo de Mundell–Fleming (tasas, capital y dólar). Afuera: China flexibilizó otra vez el crédito, Alemania se contrajo 0,1% en el 2T de 2019, había riesgo de un Brexit sin acuerdo e Italia crecía menos que Grecia. La pandemia cierra el caso con déficits proyectados como los más altos desde 1945.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caso no toma partido. Los datos 2020–2026 permiten evaluar: los optimistas tenían razón en que no habría crisis de financiamiento; los pesimistas, en que sin ajuste del gasto interno la depreciación no basta; la tesis de la materia oscura quedó refutada.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sectores más expuestos a China, como vestuario, textiles, muebles y electrónica, perdieron entre 40% y 77% de su empleo. Alimentos fue de los pocos que crecieron. La manufactura cayó de 20,6% del PIB en 1975 a 11,0% en 2019 (Anexo 10b). China pasó de 1% a 21% de las importaciones y bajó a 18% en 2019, con la guerra comercial.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una prueba, conviene citar la fuente que se usa: el texto, el anexo o la nota. Las discrepancias vienen de errores de edición y de distintos vintages de datos del BEA y del FMI.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PIIN de 2025 se cita entre −88% y −90% según el PIB usado. La cifra del 1T 2026 (−21,3 bill.) no es comparable con la de fines de 2025 por la revisión anual de junio de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2024 es una cifra derivada; la publicación de marzo de 2026 daba un ingreso primario levemente positivo para 2025. Por eso se habla de cruce en 2024–2025. Implicancia: la materia oscura queda refutada y la sostenibilidad depende ahora de r vs 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predicción del caso y de la identidad de ahorro e inversión: la política comercial no cierra el déficit agregado. Blanchard: tasas distintas por país reorganizan déficits y superávits. Obstfeld: los déficits seguirán altos pese a los aranceles.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para discusión: si una corrección bursátil o una depreciación del dólar mejoran la PIIN sin que cambie S − I, ¿se resolvió el problema? Es lo que predice el canal de valoración de Gourinchas y Rey y lo que Obstfeld y Rogoff consideraban insuficiente.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Glosario de referencia. La versión completa, con 61 términos y enlaces a los teoremas, está en la Guía de estudio (Parte 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Glosario de referencia. La versión completa, con 61 términos y enlaces a los teoremas, está en la Guía de estudio (Parte 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HBS 9-706-002 · Macroeconomía Abierta de Economías Emergentes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déficit en cuenta corriente de EE.UU.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HBS 9-706-002 (Alfaro, Di Tella y Jeong, rev. 2020), leído con las clases de Macroeconomía Abierta y actualizado a octubre de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déficit siempre se financió; lo que cambió es su costo</a:t>
            </a:r>
            <a:endParaRPr lang="en-US" sz="2800" dirty="0"/>
          </a:p>
        </p:txBody>
      </p:sp>
      <p:sp>
        <p:nvSpPr>
          <p:cNvPr id="3" name="stat0"/>
          <p:cNvSpPr/>
          <p:nvPr/>
        </p:nvSpPr>
        <p:spPr>
          <a:xfrm>
            <a:off x="548640" y="141732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−2,2%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51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corriente / PIB en 2019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Anexos 4a y 2a del caso</a:t>
            </a:r>
            <a:endParaRPr lang="en-US" sz="1100" dirty="0"/>
          </a:p>
        </p:txBody>
      </p:sp>
      <p:sp>
        <p:nvSpPr>
          <p:cNvPr id="7" name="stat1"/>
          <p:cNvSpPr/>
          <p:nvPr/>
        </p:nvSpPr>
        <p:spPr>
          <a:xfrm>
            <a:off x="3364992" y="141732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93592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−52%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651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PIIN / PIB en 2019 (−US$ 11,05 billones)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6 del caso</a:t>
            </a:r>
            <a:endParaRPr lang="en-US" sz="1100" dirty="0"/>
          </a:p>
        </p:txBody>
      </p:sp>
      <p:sp>
        <p:nvSpPr>
          <p:cNvPr id="11" name="stat2"/>
          <p:cNvSpPr/>
          <p:nvPr/>
        </p:nvSpPr>
        <p:spPr>
          <a:xfrm>
            <a:off x="6181344" y="141732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9944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−90%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651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PIIN / PIB a fines de 2025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 y Fed de Nueva York</a:t>
            </a:r>
            <a:endParaRPr lang="en-US" sz="1100" dirty="0"/>
          </a:p>
        </p:txBody>
      </p:sp>
      <p:sp>
        <p:nvSpPr>
          <p:cNvPr id="15" name="stat3"/>
          <p:cNvSpPr/>
          <p:nvPr/>
        </p:nvSpPr>
        <p:spPr>
          <a:xfrm>
            <a:off x="8997696" y="141732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26296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226296" y="2651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primario neto desde ≈ 2024: fin de la paradoja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BEA, revisión de junio de 2026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262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del caso, ¿es sostenible?, hoy se divide en dos.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financiamiento sigue llegando (no hubo detención súbita), pero desde 2024 EE.UU. es un deudor que paga: con tasas más altas, su posición externa negativa ya cuesta ingreso nacional.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caso parte de la guerra comercial y termina en la pandemia</a:t>
            </a:r>
            <a:endParaRPr lang="en-US" sz="2800" dirty="0"/>
          </a:p>
        </p:txBody>
      </p:sp>
      <p:sp>
        <p:nvSpPr>
          <p:cNvPr id="3" name="coy0"/>
          <p:cNvSpPr/>
          <p:nvPr/>
        </p:nvSpPr>
        <p:spPr>
          <a:xfrm>
            <a:off x="548640" y="1325880"/>
            <a:ext cx="544068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4" name="coyn0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54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 tributaria 2017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0312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Impuesto corporativo de 35% a 21% (permanente); tramos personales más bajos hasta 2025. Déficit federal proyectado de nuevo en 5% del PIB.</a:t>
            </a:r>
            <a:endParaRPr lang="en-US" sz="1400" dirty="0"/>
          </a:p>
        </p:txBody>
      </p:sp>
      <p:sp>
        <p:nvSpPr>
          <p:cNvPr id="8" name="coy1"/>
          <p:cNvSpPr/>
          <p:nvPr/>
        </p:nvSpPr>
        <p:spPr>
          <a:xfrm>
            <a:off x="6172200" y="1325880"/>
            <a:ext cx="544068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9" name="coyn1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554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Aranceles 2018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10312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Paneles solares 30%, lavadoras 20%, acero 25% y aluminio 10%, incluso a Canadá y México "por seguridad nacional".</a:t>
            </a:r>
            <a:endParaRPr lang="en-US" sz="1400" dirty="0"/>
          </a:p>
        </p:txBody>
      </p:sp>
      <p:sp>
        <p:nvSpPr>
          <p:cNvPr id="13" name="coy2"/>
          <p:cNvSpPr/>
          <p:nvPr/>
        </p:nvSpPr>
        <p:spPr>
          <a:xfrm>
            <a:off x="548640" y="3566160"/>
            <a:ext cx="544068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14" name="coyn2"/>
          <p:cNvSpPr/>
          <p:nvPr/>
        </p:nvSpPr>
        <p:spPr>
          <a:xfrm>
            <a:off x="777240" y="3794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794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Escalada con China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3434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sobre US$ 200 mm (sept. 2018) y sobre US$ 300 mm más (ago. 2019). El yuan cae bajo 7 por dólar; el Tesoro acusa manipulación, algo que no hacía desde 1984.</a:t>
            </a:r>
            <a:endParaRPr lang="en-US" sz="1400" dirty="0"/>
          </a:p>
        </p:txBody>
      </p:sp>
      <p:sp>
        <p:nvSpPr>
          <p:cNvPr id="18" name="coy3"/>
          <p:cNvSpPr/>
          <p:nvPr/>
        </p:nvSpPr>
        <p:spPr>
          <a:xfrm>
            <a:off x="6172200" y="3566160"/>
            <a:ext cx="544068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19" name="coyn3"/>
          <p:cNvSpPr/>
          <p:nvPr/>
        </p:nvSpPr>
        <p:spPr>
          <a:xfrm>
            <a:off x="6400800" y="37947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794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Pandemia 2020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3434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Desempleo de 23,1 millones (14,7%), PIB del 1T −5%, deuda proyectada de 107,6% del PIB y pérdida mundial de US$ 9 billones.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caso HBS 9-706-002, pp. 1–2 y 14; notas 1, 8–17 y 129–132.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años de desequilibrios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régimen monetario tuvo su desequilibrio y su forma de ajuste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régimen monetario tuvo su forma de desequilibrio</a:t>
            </a:r>
            <a:endParaRPr lang="en-US" sz="2800" dirty="0"/>
          </a:p>
        </p:txBody>
      </p:sp>
      <p:sp>
        <p:nvSpPr>
          <p:cNvPr id="3" name="timeline"/>
          <p:cNvSpPr/>
          <p:nvPr/>
        </p:nvSpPr>
        <p:spPr>
          <a:xfrm>
            <a:off x="822960" y="2194560"/>
            <a:ext cx="1060704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4" name="dot0"/>
          <p:cNvSpPr/>
          <p:nvPr/>
        </p:nvSpPr>
        <p:spPr>
          <a:xfrm>
            <a:off x="1417320" y="1965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173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1870–1914</a:t>
            </a:r>
            <a:endParaRPr lang="en-US" sz="1400" dirty="0"/>
          </a:p>
        </p:txBody>
      </p:sp>
      <p:sp>
        <p:nvSpPr>
          <p:cNvPr id="7" name="era0"/>
          <p:cNvSpPr/>
          <p:nvPr/>
        </p:nvSpPr>
        <p:spPr>
          <a:xfrm>
            <a:off x="548640" y="3063240"/>
            <a:ext cx="2103120" cy="27432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oro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79476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externos mundiales de 7% a 20% del PIB mundial. EE.UU. es deudor (PIIN ≈ −22% en 1894): capital británico financia sus ferrocarriles.</a:t>
            </a:r>
            <a:endParaRPr lang="en-US" sz="1300" dirty="0"/>
          </a:p>
        </p:txBody>
      </p:sp>
      <p:sp>
        <p:nvSpPr>
          <p:cNvPr id="10" name="dot1"/>
          <p:cNvSpPr/>
          <p:nvPr/>
        </p:nvSpPr>
        <p:spPr>
          <a:xfrm>
            <a:off x="3685032" y="1965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8503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816352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1914–1939</a:t>
            </a:r>
            <a:endParaRPr lang="en-US" sz="1400" dirty="0"/>
          </a:p>
        </p:txBody>
      </p:sp>
      <p:sp>
        <p:nvSpPr>
          <p:cNvPr id="13" name="era1"/>
          <p:cNvSpPr/>
          <p:nvPr/>
        </p:nvSpPr>
        <p:spPr>
          <a:xfrm>
            <a:off x="2816352" y="3063240"/>
            <a:ext cx="2103120" cy="27432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953512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Entreguerras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953512" y="379476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cambio-oro, libra sobrevaluada y crash de 1929. EE.UU. abandona el oro en 1933.</a:t>
            </a:r>
            <a:endParaRPr lang="en-US" sz="1300" dirty="0"/>
          </a:p>
        </p:txBody>
      </p:sp>
      <p:sp>
        <p:nvSpPr>
          <p:cNvPr id="16" name="dot2"/>
          <p:cNvSpPr/>
          <p:nvPr/>
        </p:nvSpPr>
        <p:spPr>
          <a:xfrm>
            <a:off x="5952744" y="1965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52744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084064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1950–1971</a:t>
            </a:r>
            <a:endParaRPr lang="en-US" sz="1400" dirty="0"/>
          </a:p>
        </p:txBody>
      </p:sp>
      <p:sp>
        <p:nvSpPr>
          <p:cNvPr id="19" name="era2"/>
          <p:cNvSpPr/>
          <p:nvPr/>
        </p:nvSpPr>
        <p:spPr>
          <a:xfrm>
            <a:off x="5084064" y="3063240"/>
            <a:ext cx="2103120" cy="27432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221224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Bretton Woods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221224" y="379476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 a US$ 35. Pasivos superan al oro en 1964; primer déficit comercial desde 1893 y cierre de la ventanilla (1971).</a:t>
            </a:r>
            <a:endParaRPr lang="en-US" sz="1300" dirty="0"/>
          </a:p>
        </p:txBody>
      </p:sp>
      <p:sp>
        <p:nvSpPr>
          <p:cNvPr id="22" name="dot3"/>
          <p:cNvSpPr/>
          <p:nvPr/>
        </p:nvSpPr>
        <p:spPr>
          <a:xfrm>
            <a:off x="8220456" y="1965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0456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51776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</a:t>
            </a:r>
            <a:endParaRPr lang="en-US" sz="1400" dirty="0"/>
          </a:p>
        </p:txBody>
      </p:sp>
      <p:sp>
        <p:nvSpPr>
          <p:cNvPr id="25" name="era3"/>
          <p:cNvSpPr/>
          <p:nvPr/>
        </p:nvSpPr>
        <p:spPr>
          <a:xfrm>
            <a:off x="7351776" y="3063240"/>
            <a:ext cx="2103120" cy="27432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88936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Déficits gemelos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88936" y="379476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de +0,1% a −3,3% del PIB. El Plaza baja el dólar 40%; la PIIN es negativa desde 1986–1989.</a:t>
            </a:r>
            <a:endParaRPr lang="en-US" sz="1300" dirty="0"/>
          </a:p>
        </p:txBody>
      </p:sp>
      <p:sp>
        <p:nvSpPr>
          <p:cNvPr id="28" name="dot4"/>
          <p:cNvSpPr/>
          <p:nvPr/>
        </p:nvSpPr>
        <p:spPr>
          <a:xfrm>
            <a:off x="10488168" y="19659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48816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619488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1995–2019</a:t>
            </a:r>
            <a:endParaRPr lang="en-US" sz="1400" dirty="0"/>
          </a:p>
        </p:txBody>
      </p:sp>
      <p:sp>
        <p:nvSpPr>
          <p:cNvPr id="31" name="era4"/>
          <p:cNvSpPr/>
          <p:nvPr/>
        </p:nvSpPr>
        <p:spPr>
          <a:xfrm>
            <a:off x="9619488" y="3063240"/>
            <a:ext cx="2103120" cy="27432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756648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economía y Bretton Woods II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756648" y="3794760"/>
            <a:ext cx="1828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Boom de inversión, exceso de ahorro mundial y reservas asiáticas. CC cerca de −6% del PIB hacia 2006 (Anexo 4b).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caso HBS 9-706-002, pp. 3–8, y nota 28 (Obstfeld y Taylor).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déficit tocó fondo a mediados de los 2000 y volvió a crecer desde 2020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adout"/>
          <p:cNvSpPr/>
          <p:nvPr/>
        </p:nvSpPr>
        <p:spPr>
          <a:xfrm>
            <a:off x="8412480" y="1325880"/>
            <a:ext cx="3200400" cy="448056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641080" y="1554480"/>
            <a:ext cx="2788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leerlo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Reagan: gemelos con el déficit fiscal.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2000–2007: exceso de ahorro mundial, reservas asiáticas y burbuja inmobiliaria.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2009: se cierra con la recesión (balanza contracíclica).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2024: récord nominal de US$ 1,2 billones.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Anexos 2a y 4a del caso (1980–2019, cálculo CC/PIB); clase Desbalances globales (2020); BEA, revisión de junio de 2026 (2024–2025).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déficits gemelos van y vienen: lo que manda es S − 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 = (S</a:t>
            </a:r>
            <a:pPr indent="0" marL="0">
              <a:buNone/>
            </a:pPr>
            <a:r>
              <a:rPr lang="en-US" sz="2400" b="1" baseline="-40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privado</a:t>
            </a:r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I) + (T − G)</a:t>
            </a:r>
            <a:endParaRPr lang="en-US" sz="2400" dirty="0"/>
          </a:p>
        </p:txBody>
      </p:sp>
      <p:sp>
        <p:nvSpPr>
          <p:cNvPr id="4" name="twin0"/>
          <p:cNvSpPr/>
          <p:nvPr/>
        </p:nvSpPr>
        <p:spPr>
          <a:xfrm>
            <a:off x="548640" y="2148840"/>
            <a:ext cx="35204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5" name="tn0"/>
          <p:cNvSpPr/>
          <p:nvPr/>
        </p:nvSpPr>
        <p:spPr>
          <a:xfrm>
            <a:off x="777240" y="23774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377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1980–1986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Gemelos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5204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fiscal de 2,8% a 4,8% del PIB y CC de +0,1% a −3,3%. La caída del ahorro público se traspasa a la cuenta corriente.</a:t>
            </a:r>
            <a:endParaRPr lang="en-US" sz="1400" dirty="0"/>
          </a:p>
        </p:txBody>
      </p:sp>
      <p:sp>
        <p:nvSpPr>
          <p:cNvPr id="10" name="twin1"/>
          <p:cNvSpPr/>
          <p:nvPr/>
        </p:nvSpPr>
        <p:spPr>
          <a:xfrm>
            <a:off x="4297680" y="2148840"/>
            <a:ext cx="35204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11" name="tn1"/>
          <p:cNvSpPr/>
          <p:nvPr/>
        </p:nvSpPr>
        <p:spPr>
          <a:xfrm>
            <a:off x="4526280" y="23774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2377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1992–2000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Separados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5204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fisco pasa de −5% a +3%, pero la inversión sube de 5,5% a 8,6% y el ahorro de los hogares cae de 6,5% a menos de 1%. La CC empeora igual.</a:t>
            </a:r>
            <a:endParaRPr lang="en-US" sz="1400" dirty="0"/>
          </a:p>
        </p:txBody>
      </p:sp>
      <p:sp>
        <p:nvSpPr>
          <p:cNvPr id="16" name="twin2"/>
          <p:cNvSpPr/>
          <p:nvPr/>
        </p:nvSpPr>
        <p:spPr>
          <a:xfrm>
            <a:off x="8046720" y="2148840"/>
            <a:ext cx="352044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17" name="tn2"/>
          <p:cNvSpPr/>
          <p:nvPr/>
        </p:nvSpPr>
        <p:spPr>
          <a:xfrm>
            <a:off x="827532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753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0" y="2377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Privado ahorra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35204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federal de 4,6% y CC de −2,2%, así que S_privado − I ≈ +2,4% del PIB. El exterior financia el resto del déficit público.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caso pp. 6–7 y Anexos 1a y 4a. El cálculo de 2019 es propio y considera solo el gobierno federal.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2000–2005: los bancos centrales de Asia financian el déficit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asiacard"/>
          <p:cNvSpPr/>
          <p:nvPr/>
        </p:nvSpPr>
        <p:spPr>
          <a:xfrm>
            <a:off x="7498080" y="1325880"/>
            <a:ext cx="4114800" cy="4480560"/>
          </a:xfrm>
          <a:prstGeom prst="roundRect">
            <a:avLst>
              <a:gd name="adj" fmla="val 1778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26680" y="1554480"/>
            <a:ext cx="3703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US$ 2,3 billones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déficits en 2002–2005; las reservas en dólares subieron US$ 1,2 billones (Asia: +1,1).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Exportaciones de China a EE. UU.: de 8% a 15% de su PIB (2000–2006).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Tasas bajas inflan la vivienda; la plusvalía reemplaza al ahorro.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 no interviene: el dólar cae 54% frente al euro hasta 2004, lo que genera ganancias de valoración.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caso pp. 7–8; Anexo 7a (Tesoro, TIC). Las cifras chinas del Tesoro subestiman compras vía intermediarios (nota 3 del anexo).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teoremas explican la historia monetaria del caso</a:t>
            </a:r>
            <a:endParaRPr lang="en-US" sz="2800" dirty="0"/>
          </a:p>
        </p:txBody>
      </p:sp>
      <p:sp>
        <p:nvSpPr>
          <p:cNvPr id="3" name="teo0"/>
          <p:cNvSpPr/>
          <p:nvPr/>
        </p:nvSpPr>
        <p:spPr>
          <a:xfrm>
            <a:off x="548640" y="132588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4" name="tnum0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54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Trilema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574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tener a la vez tipo fijo, movilidad de capital y autonomía monetaria.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7432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 1891–97 y 1931: tasas altas en recesión. Bretton Woods: controles de capital.</a:t>
            </a:r>
            <a:endParaRPr lang="en-US" sz="1300" dirty="0"/>
          </a:p>
        </p:txBody>
      </p:sp>
      <p:sp>
        <p:nvSpPr>
          <p:cNvPr id="9" name="teo1"/>
          <p:cNvSpPr/>
          <p:nvPr/>
        </p:nvSpPr>
        <p:spPr>
          <a:xfrm>
            <a:off x="6172200" y="132588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0" name="tnum1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554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Dilema de Triffin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0574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dar liquidez, el emisor de la reserva acumula pasivos y eso erosiona la confianza.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7432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1964: pasivos en dólares &gt; oro de EE. UU. 1971: cierre de la ventanilla.</a:t>
            </a:r>
            <a:endParaRPr lang="en-US" sz="1300" dirty="0"/>
          </a:p>
        </p:txBody>
      </p:sp>
      <p:sp>
        <p:nvSpPr>
          <p:cNvPr id="15" name="teo2"/>
          <p:cNvSpPr/>
          <p:nvPr/>
        </p:nvSpPr>
        <p:spPr>
          <a:xfrm>
            <a:off x="548640" y="361188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6" name="tnum2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840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Hume y Fisher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3434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el oro, el déficit se corrige con deflación; la deflación sube la deuda real (D/P).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50292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Agricultores deudores contra banqueros del Este; movimiento por la plata.</a:t>
            </a:r>
            <a:endParaRPr lang="en-US" sz="1300" dirty="0"/>
          </a:p>
        </p:txBody>
      </p:sp>
      <p:sp>
        <p:nvSpPr>
          <p:cNvPr id="21" name="teo3"/>
          <p:cNvSpPr/>
          <p:nvPr/>
        </p:nvSpPr>
        <p:spPr>
          <a:xfrm>
            <a:off x="6172200" y="361188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2" name="tnum3"/>
          <p:cNvSpPr/>
          <p:nvPr/>
        </p:nvSpPr>
        <p:spPr>
          <a:xfrm>
            <a:off x="6400800" y="3840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3840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Marshall–Lerner y curva J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43434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comercio equilibrado, una depreciación mejora la balanza si η_X + η_M &gt; 1; en el corto plazo puede empeorar primero.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50292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Plaza 1985: CC −3,3% (1986), −3,4% (1987) y −1,8% (1989), un perfil compatible con una curva J.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caso, pp. 3–6 (original en inglés); Hume (1752), Mundell (1963), Triffin (1960), Fisher (1933). Desarrollo formal en la Guía de estudio, T6–T12.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clases aplicadas al dato real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Balanza de pagos, PIIN y valoración, la paradoja PIIN–INI, sostenibilidad, hechos estilizados y Solow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2019 el ingreso por inversión aún amortiguaba el déficit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opcard"/>
          <p:cNvSpPr/>
          <p:nvPr/>
        </p:nvSpPr>
        <p:spPr>
          <a:xfrm>
            <a:off x="7680960" y="1325880"/>
            <a:ext cx="3931920" cy="448056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909560" y="1554480"/>
            <a:ext cx="3520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= BC + ingresos + transferencias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−480 = (−864 + 287) + 236 − 140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balanza comercial domina la CC, como en la mayoría de los países (lámina 17 de la clase).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déficit en bienes y superávit en servicios: la asimetría de elasticidades se invierte en servicios.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&gt; BC porque los ingresos son positivos. Ese colchón desaparece en 2024.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Anexo 4a del caso (US$ mm) sobre un PIB de US$ 21,4 billones; coincide con la tabla de la lámina 19 de la clase (EE.UU. 2019).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valoración mueve la PIIN más que la cuenta corriente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valcard"/>
          <p:cNvSpPr/>
          <p:nvPr/>
        </p:nvSpPr>
        <p:spPr>
          <a:xfrm>
            <a:off x="7863840" y="1325880"/>
            <a:ext cx="3749040" cy="4480560"/>
          </a:xfrm>
          <a:prstGeom prst="roundRect">
            <a:avLst>
              <a:gd name="adj" fmla="val 195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092440" y="1554480"/>
            <a:ext cx="3337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ΔPIIN = CC + Δ valoración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activos de EE.UU. están mayormente en moneda extranjera y sus pasivos mayormente en dólares: si el dólar cae, la PIIN mejora.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2017 la CC fue −365, pero la PIIN mejoró +507.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Clase: sin valoración, la PIIN de 2007 habría sido −46% del PIB, no −9%.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Anexo 9a del caso (valoración = ΔPIIN − CC); clase Desbalances globales, láminas 31–39.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Paradoja PIIN–INI: ¿materia oscura o diferencial de retorno?</a:t>
            </a:r>
            <a:endParaRPr lang="en-US" sz="2800" dirty="0"/>
          </a:p>
        </p:txBody>
      </p:sp>
      <p:sp>
        <p:nvSpPr>
          <p:cNvPr id="3" name="dark"/>
          <p:cNvSpPr/>
          <p:nvPr/>
        </p:nvSpPr>
        <p:spPr>
          <a:xfrm>
            <a:off x="548640" y="1325880"/>
            <a:ext cx="539496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1: materia oscura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PIIN verdadera = INI / r = 248 / 0,05 = US$ 4,96 bill.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 oscura = 4,96 − (−11,05) ≈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US$ 16,0 billones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Hausmann y Sturzenegger la atribuyen a conocimiento, liquidez y seguros.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Buiter acepta solo ≈ US$ 0,5 bill. (señoreaje): "fusión fría".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clase: es demasiado grande para que el BEA no la vea.</a:t>
            </a:r>
            <a:endParaRPr lang="en-US" sz="1400" dirty="0"/>
          </a:p>
        </p:txBody>
      </p:sp>
      <p:sp>
        <p:nvSpPr>
          <p:cNvPr id="6" name="diff"/>
          <p:cNvSpPr/>
          <p:nvPr/>
        </p:nvSpPr>
        <p:spPr>
          <a:xfrm>
            <a:off x="6217920" y="1325880"/>
            <a:ext cx="539496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2: diferencial de retorno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057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 = r</a:t>
            </a:r>
            <a:pPr indent="0" marL="0">
              <a:buNone/>
            </a:pPr>
            <a:r>
              <a:rPr lang="en-US" sz="1600" b="1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·A − r</a:t>
            </a:r>
            <a:pPr indent="0" marL="0">
              <a:buNone/>
            </a:pPr>
            <a:r>
              <a:rPr lang="en-US" sz="1600" b="1" baseline="-40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3,87%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r_A = 1.129 / 29.153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2,19%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91540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r_L = 881 / 40.203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8862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activos (sobre todo IED y acciones, riesgosos) rinden ≈ 1,7 pp más que los pasivos (sobre todo deuda segura). Gourinchas y Rey: EE.UU. como "capitalista de riesgo mundial". China muestra la paradoja invertida.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2019, Anexos 4a y 6 del caso (cálculos propios con el método de las láminas 45–48 de la clase).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Sostenibilidad: con r &lt; g se puede tener déficit, pero chico</a:t>
            </a:r>
            <a:endParaRPr lang="en-US" sz="2800" dirty="0"/>
          </a:p>
        </p:txBody>
      </p:sp>
      <p:sp>
        <p:nvSpPr>
          <p:cNvPr id="3" name="formula"/>
          <p:cNvSpPr/>
          <p:nvPr/>
        </p:nvSpPr>
        <p:spPr>
          <a:xfrm>
            <a:off x="548640" y="1325880"/>
            <a:ext cx="5120640" cy="4480560"/>
          </a:xfrm>
          <a:prstGeom prst="roundRect">
            <a:avLst>
              <a:gd name="adj" fmla="val 1633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de movimiento de la PIIN/PIB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pPr indent="0" marL="0">
              <a:buNone/>
            </a:pPr>
            <a:r>
              <a:rPr lang="en-US" sz="2000" b="1" baseline="-4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[(1+r)/(1+g)]·b</a:t>
            </a:r>
            <a:pPr indent="0" marL="0">
              <a:buNone/>
            </a:pPr>
            <a:r>
              <a:rPr lang="en-US" sz="2000" b="1" baseline="-4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t−1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tb</a:t>
            </a:r>
            <a:pPr indent="0" marL="0">
              <a:buNone/>
            </a:pPr>
            <a:r>
              <a:rPr lang="en-US" sz="2000" b="1" baseline="-40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para estabilizar b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tb = −[(r − g)/(1 + g)]·b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148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 (Uribe y Schmitt-Grohé, cap. 2), no está en las láminas. r = retorno de la posición neta; sin transferencias ni valoración.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325880"/>
          <a:ext cx="55778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 (b = −0,52; g = 4%)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3D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 que estabiliza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3% (r &lt; g)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−0,5% del PIB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5% (r &gt; g)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+0,5% del PIB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Observado 2019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855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−2,7% del PIB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035040" y="384048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 &lt; g se mantiene con tb = −2,7%, b converge a </a:t>
            </a:r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−281% del PIB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acotado pero enorme. Si r &gt; g, diverge: la "dinámica explosiva" de Roubini y Setser. El fin de la paradoja PIIN–INI equivale a que el r efectivo subió.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Cálculos propios con datos de 2019 del caso (b = PIIN/PIB = −0,52; tb = BC/PIB).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Frente al mundo, EE.UU. es estable, contracíclico y poco abierto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5943600" y="1325880"/>
          <a:ext cx="56692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943600" y="452628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caso: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CC se cerró en la recesión 2007–09 (de −737 a −380) y en 2009 hubo un estímulo de US$ 787 mm. Con exportaciones de 12% del PIB (Anexo 2a), una PIIN de −52% equivale a ≈ 4,3 años de exportaciones.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clase Hechos estilizados de economías pequeñas y abiertas, láminas 19–20 (tendencia cuadrática, 1960–2011); caso pp. 6 y 12; Anexos 2a, 4a y 6. Razón PIIN/exportaciones: cálculo propio.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Solow en economía abierta: el capital fluye "cuesta arriba"</a:t>
            </a:r>
            <a:endParaRPr lang="en-US" sz="2800" dirty="0"/>
          </a:p>
        </p:txBody>
      </p:sp>
      <p:sp>
        <p:nvSpPr>
          <p:cNvPr id="3" name="sol0"/>
          <p:cNvSpPr/>
          <p:nvPr/>
        </p:nvSpPr>
        <p:spPr>
          <a:xfrm>
            <a:off x="548640" y="137160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4" name="sn0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≠ I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4884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economía abierta, CC = S − I. Un shock de productividad (A↑, nueva economía) sube la inversión sin necesitar más ahorro. Según el enfoque intertemporal (complemento), el déficit puede ser óptimo.</a:t>
            </a:r>
            <a:endParaRPr lang="en-US" sz="1400" dirty="0"/>
          </a:p>
        </p:txBody>
      </p:sp>
      <p:sp>
        <p:nvSpPr>
          <p:cNvPr id="8" name="sol1"/>
          <p:cNvSpPr/>
          <p:nvPr/>
        </p:nvSpPr>
        <p:spPr>
          <a:xfrm>
            <a:off x="6172200" y="137160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9" name="sn1"/>
          <p:cNvSpPr/>
          <p:nvPr/>
        </p:nvSpPr>
        <p:spPr>
          <a:xfrm>
            <a:off x="640080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vs. PNB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14884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PIIN &lt; 0, parte del ingreso del capital es del exterior. Desde 2024, con ingreso primario neto negativo (BEA, jun. 2026), el PNB es menor que el PIB.</a:t>
            </a:r>
            <a:endParaRPr lang="en-US" sz="1400" dirty="0"/>
          </a:p>
        </p:txBody>
      </p:sp>
      <p:sp>
        <p:nvSpPr>
          <p:cNvPr id="13" name="sol2"/>
          <p:cNvSpPr/>
          <p:nvPr/>
        </p:nvSpPr>
        <p:spPr>
          <a:xfrm>
            <a:off x="548640" y="361188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4" name="sn2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840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Paradoja de Lucas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38912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Solow predice que el capital va adonde es escaso. Pero fluye de China (US$ 13.988 PPA) a EE.UU. (US$ 63.393): reservas, activos seguros, instituciones.</a:t>
            </a:r>
            <a:endParaRPr lang="en-US" sz="1400" dirty="0"/>
          </a:p>
        </p:txBody>
      </p:sp>
      <p:sp>
        <p:nvSpPr>
          <p:cNvPr id="18" name="sol3"/>
          <p:cNvSpPr/>
          <p:nvPr/>
        </p:nvSpPr>
        <p:spPr>
          <a:xfrm>
            <a:off x="6172200" y="3611880"/>
            <a:ext cx="5440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9" name="sn3"/>
          <p:cNvSpPr/>
          <p:nvPr/>
        </p:nvSpPr>
        <p:spPr>
          <a:xfrm>
            <a:off x="6400800" y="3840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8404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bajo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38912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Solow cerrado, un s bajo implica un k* bajo. En economía abierta la inversión se financia con ahorro externo, a costa de una PIIN negativa. La regla de oro (s = 1 − α) no se evalúa en el caso.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clase de Crecimiento (Solow) e Introducción (PIB per cápita PPA 2019, PWT 10.1); caso pp. 6–9. La paradoja de Lucas (1990) es un complemento.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¿Aterrizaje suave o forzoso?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Optimistas y pesimistas, y lo que mostraron los datos después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argumentos para una resolución benigna y sus críticas</a:t>
            </a:r>
            <a:endParaRPr lang="en-US" sz="2800" dirty="0"/>
          </a:p>
        </p:txBody>
      </p:sp>
      <p:sp>
        <p:nvSpPr>
          <p:cNvPr id="3" name="ben0"/>
          <p:cNvSpPr/>
          <p:nvPr/>
        </p:nvSpPr>
        <p:spPr>
          <a:xfrm>
            <a:off x="548640" y="1325880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4" name="benn0"/>
          <p:cNvSpPr/>
          <p:nvPr/>
        </p:nvSpPr>
        <p:spPr>
          <a:xfrm>
            <a:off x="731520" y="1481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3560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de crecimiento y activos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43560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Caballero, Farhi y Gourinchas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13990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desequilibrios duran si persisten las diferencias para producir activos financieros.</a:t>
            </a:r>
            <a:endParaRPr lang="en-US" sz="1250" dirty="0"/>
          </a:p>
        </p:txBody>
      </p:sp>
      <p:sp>
        <p:nvSpPr>
          <p:cNvPr id="9" name="ben1"/>
          <p:cNvSpPr/>
          <p:nvPr/>
        </p:nvSpPr>
        <p:spPr>
          <a:xfrm>
            <a:off x="548640" y="2221992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0" name="benn1"/>
          <p:cNvSpPr/>
          <p:nvPr/>
        </p:nvSpPr>
        <p:spPr>
          <a:xfrm>
            <a:off x="73152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3317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Crecer más afuera cierra la brecha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23317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2005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229514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Crítica: la elasticidad-ingreso de las importaciones es 1,8 y la de las exportaciones 0,8.</a:t>
            </a:r>
            <a:endParaRPr lang="en-US" sz="1250" dirty="0"/>
          </a:p>
        </p:txBody>
      </p:sp>
      <p:sp>
        <p:nvSpPr>
          <p:cNvPr id="15" name="ben2"/>
          <p:cNvSpPr/>
          <p:nvPr/>
        </p:nvSpPr>
        <p:spPr>
          <a:xfrm>
            <a:off x="548640" y="3118104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6" name="benn2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22783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Globalización financiera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32278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Greenspan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319125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sesgo local cae de 95% a 80% (1993–2002): más ahorro mundial disponible.</a:t>
            </a:r>
            <a:endParaRPr lang="en-US" sz="1250" dirty="0"/>
          </a:p>
        </p:txBody>
      </p:sp>
      <p:sp>
        <p:nvSpPr>
          <p:cNvPr id="21" name="ben3"/>
          <p:cNvSpPr/>
          <p:nvPr/>
        </p:nvSpPr>
        <p:spPr>
          <a:xfrm>
            <a:off x="548640" y="4014216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22" name="benn3"/>
          <p:cNvSpPr/>
          <p:nvPr/>
        </p:nvSpPr>
        <p:spPr>
          <a:xfrm>
            <a:off x="731520" y="41696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12394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"Nuestro regalo al mundo"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0" y="412394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Quarles; Dooley et al.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589520" y="40873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déficit es el motor exportador de Asia; China absorbe 200 millones de trabajadores.</a:t>
            </a:r>
            <a:endParaRPr lang="en-US" sz="1250" dirty="0"/>
          </a:p>
        </p:txBody>
      </p:sp>
      <p:sp>
        <p:nvSpPr>
          <p:cNvPr id="27" name="ben4"/>
          <p:cNvSpPr/>
          <p:nvPr/>
        </p:nvSpPr>
        <p:spPr>
          <a:xfrm>
            <a:off x="548640" y="4910328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28" name="benn4"/>
          <p:cNvSpPr/>
          <p:nvPr/>
        </p:nvSpPr>
        <p:spPr>
          <a:xfrm>
            <a:off x="731520" y="50657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371600" y="502005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 del terror financiero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50200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589520" y="4983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seguiría financiando para evitar un colapso del dólar y EE. UU. evitaría sancionarla: Bretton Woods II.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caso pp. 8–9; notas 70–83.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Cambio de trayectoria: Asia duda y China mueve el yuan</a:t>
            </a:r>
            <a:endParaRPr lang="en-US" sz="2800" dirty="0"/>
          </a:p>
        </p:txBody>
      </p:sp>
      <p:sp>
        <p:nvSpPr>
          <p:cNvPr id="3" name="trayline"/>
          <p:cNvSpPr/>
          <p:nvPr/>
        </p:nvSpPr>
        <p:spPr>
          <a:xfrm>
            <a:off x="1417320" y="1463040"/>
            <a:ext cx="0" cy="434340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4" name="trd0"/>
          <p:cNvSpPr/>
          <p:nvPr/>
        </p:nvSpPr>
        <p:spPr>
          <a:xfrm>
            <a:off x="1280160" y="150876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8132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2004–05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41732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senadores escriben a Cheney (ene. 2004); proyectos de aranceles; Wei Benhua: "poner su propia casa en orden" (may. 2005).</a:t>
            </a:r>
            <a:endParaRPr lang="en-US" sz="1400" dirty="0"/>
          </a:p>
        </p:txBody>
      </p:sp>
      <p:sp>
        <p:nvSpPr>
          <p:cNvPr id="7" name="trd1"/>
          <p:cNvSpPr/>
          <p:nvPr/>
        </p:nvSpPr>
        <p:spPr>
          <a:xfrm>
            <a:off x="1280160" y="240487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774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mar. 2005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231343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regulador surcoreano dice que el ahorro asiático no puede seguir financiando el consumo de EE. UU.; Koizumi sugiere diversificar.</a:t>
            </a:r>
            <a:endParaRPr lang="en-US" sz="1400" dirty="0"/>
          </a:p>
        </p:txBody>
      </p:sp>
      <p:sp>
        <p:nvSpPr>
          <p:cNvPr id="10" name="trd2"/>
          <p:cNvSpPr/>
          <p:nvPr/>
        </p:nvSpPr>
        <p:spPr>
          <a:xfrm>
            <a:off x="1280160" y="3300984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7355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2005–13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209544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flexibiliza su régimen (2005); el Tesoro amenaza con declararla manipuladora (may. 2006); el yuan se aprecia 27%.</a:t>
            </a:r>
            <a:endParaRPr lang="en-US" sz="1400" dirty="0"/>
          </a:p>
        </p:txBody>
      </p:sp>
      <p:sp>
        <p:nvSpPr>
          <p:cNvPr id="13" name="trd3"/>
          <p:cNvSpPr/>
          <p:nvPr/>
        </p:nvSpPr>
        <p:spPr>
          <a:xfrm>
            <a:off x="1280160" y="4197096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16966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mar. 2009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4105656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 Jiabao: "estamos un poco preocupados". Obama: "no hay inversión más segura".</a:t>
            </a:r>
            <a:endParaRPr lang="en-US" sz="1400" dirty="0"/>
          </a:p>
        </p:txBody>
      </p:sp>
      <p:sp>
        <p:nvSpPr>
          <p:cNvPr id="16" name="trd4"/>
          <p:cNvSpPr/>
          <p:nvPr/>
        </p:nvSpPr>
        <p:spPr>
          <a:xfrm>
            <a:off x="1280160" y="509320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06577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ago. 2015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500176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deja caer el yuan 4,4% en menos de una semana: ¿mercado o guerra de divisas?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caso pp. 9–10; notas 85–94.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misma PIIN pesaría más en EE. UU., que exporta poco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niipexp"/>
          <p:cNvSpPr/>
          <p:nvPr/>
        </p:nvSpPr>
        <p:spPr>
          <a:xfrm>
            <a:off x="7498080" y="1325880"/>
            <a:ext cx="4114800" cy="4480560"/>
          </a:xfrm>
          <a:prstGeom prst="roundRect">
            <a:avLst>
              <a:gd name="adj" fmla="val 1778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26680" y="1554480"/>
            <a:ext cx="3703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exportaciones para saldar la misma PIIN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PIIN de −59%: Australia 3,5; EE. UU. 5,9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PIIN de −131%: Nueva Zelanda 3,7; EE. UU. 13,1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EE. UU. 2019: 52 / 12 ≈ 4,3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sector transable chico, cerrar el déficit exige una gran depreciación real: hasta 40% o más (Obstfeld y Rogoff, 2004).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caso pp. 10–11 (PIIN de EE. UU. de 2017; Australia y Nueva Zelanda, 2003, Mussa 2004, nota 95; exportaciones según Roubini y Setser 2004, nota 96); Anexos 2a y 6 (2019). Razones: cálculo propio.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aviso de aterrizaje forzoso a 2009 y 2011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hardcard"/>
          <p:cNvSpPr/>
          <p:nvPr/>
        </p:nvSpPr>
        <p:spPr>
          <a:xfrm>
            <a:off x="7680960" y="1325880"/>
            <a:ext cx="3931920" cy="448056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909560" y="1554480"/>
            <a:ext cx="3520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Roubini y Setser: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CC crece por los pagos de la deuda aunque la balanza comercial se estabilice.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Roach (2006):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mundo fue polizón del consumidor de EE. UU.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estímulo de US$ 787 mm y déficit de casi 10% del PIB.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del techo de deuda; S&amp;P rebaja a AA+ (5 de agosto); Beijing pide "curar la adicción a la deuda".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 los recortes automáticos.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caso pp. 11–12; Anexo 3a; notas 107–116. La cita de The Economist sobre la "fantasía fiscal" es de abril de 2005 (nota 111), no de 2006.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2017–2020: tres fuerzas empujaban el déficit hacia arriba</a:t>
            </a:r>
            <a:endParaRPr lang="en-US" sz="2800" dirty="0"/>
          </a:p>
        </p:txBody>
      </p:sp>
      <p:sp>
        <p:nvSpPr>
          <p:cNvPr id="3" name="fz0"/>
          <p:cNvSpPr/>
          <p:nvPr/>
        </p:nvSpPr>
        <p:spPr>
          <a:xfrm>
            <a:off x="548640" y="1325880"/>
            <a:ext cx="352044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4" name="fzn0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fiscal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recortes de 2017 y el gasto de 2018 llevan el déficit sobre US$ 1 billón (ago. 2019). Financiarlo puede subir las tasas, atraer capital y apreciar el dólar.</a:t>
            </a:r>
            <a:endParaRPr lang="en-US" sz="1400" dirty="0"/>
          </a:p>
        </p:txBody>
      </p:sp>
      <p:sp>
        <p:nvSpPr>
          <p:cNvPr id="8" name="fz1"/>
          <p:cNvSpPr/>
          <p:nvPr/>
        </p:nvSpPr>
        <p:spPr>
          <a:xfrm>
            <a:off x="4297680" y="1325880"/>
            <a:ext cx="352044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9" name="fzn1"/>
          <p:cNvSpPr/>
          <p:nvPr/>
        </p:nvSpPr>
        <p:spPr>
          <a:xfrm>
            <a:off x="452628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19456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tasas a 1,75–2,0% con inflación de 2,1% y el dólar se fortalece. En julio de 2019 recorta 25 pb: ¿presión de Trump?</a:t>
            </a:r>
            <a:endParaRPr lang="en-US" sz="1400" dirty="0"/>
          </a:p>
        </p:txBody>
      </p:sp>
      <p:sp>
        <p:nvSpPr>
          <p:cNvPr id="13" name="fz2"/>
          <p:cNvSpPr/>
          <p:nvPr/>
        </p:nvSpPr>
        <p:spPr>
          <a:xfrm>
            <a:off x="8046720" y="1325880"/>
            <a:ext cx="352044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14" name="fzn2"/>
          <p:cNvSpPr/>
          <p:nvPr/>
        </p:nvSpPr>
        <p:spPr>
          <a:xfrm>
            <a:off x="8275320" y="1554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753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guerras comerciales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19456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incertidumbre y represalias: el acero sube un tercio y Harley-Davidson traslada producción a Europa.</a:t>
            </a:r>
            <a:endParaRPr lang="en-US" sz="1400" dirty="0"/>
          </a:p>
        </p:txBody>
      </p:sp>
      <p:sp>
        <p:nvSpPr>
          <p:cNvPr id="18" name="bea18"/>
          <p:cNvSpPr/>
          <p:nvPr/>
        </p:nvSpPr>
        <p:spPr>
          <a:xfrm>
            <a:off x="548640" y="4434840"/>
            <a:ext cx="11064240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5720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revisión del BEA (julio de 2018):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ahorro privado era 3% del PIB mayor (US$ 650 mm de utilidades no declaradas). Había más ahorro disponible del que se creía, pero el ahorro real no cambió: solo su medición.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caso pp. 12–14; notas 117–128. Contexto externo: desapalancamiento chino, Alemania al borde de la recesión, Brexit e Italia.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Benignos acertaron en el financiamiento; pesimistas, en el costo</a:t>
            </a:r>
            <a:endParaRPr lang="en-US" sz="2800" dirty="0"/>
          </a:p>
        </p:txBody>
      </p:sp>
      <p:sp>
        <p:nvSpPr>
          <p:cNvPr id="3" name="deb0"/>
          <p:cNvSpPr/>
          <p:nvPr/>
        </p:nvSpPr>
        <p:spPr>
          <a:xfrm>
            <a:off x="548640" y="1325880"/>
            <a:ext cx="3520440" cy="452628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4" name="debdot0"/>
          <p:cNvSpPr/>
          <p:nvPr/>
        </p:nvSpPr>
        <p:spPr>
          <a:xfrm>
            <a:off x="777240" y="1554480"/>
            <a:ext cx="320040" cy="320040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34440" y="1481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Benignos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Exceso de ahorro mundial (Bernanke)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Bretton Woods II y "terror financiero" (Dooley et al., Summers)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Escasez de activos seguros (Caballero, Farhi y Gourinchas)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Globalización financiera y menor sesgo local (Greenspan)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389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2020–26: no hubo detención súbita (entraron US$ 1,21 bill. netos en 2025). Pero el financiamiento oficial se erosiona.</a:t>
            </a:r>
            <a:endParaRPr lang="en-US" sz="1300" dirty="0"/>
          </a:p>
        </p:txBody>
      </p:sp>
      <p:sp>
        <p:nvSpPr>
          <p:cNvPr id="8" name="deb1"/>
          <p:cNvSpPr/>
          <p:nvPr/>
        </p:nvSpPr>
        <p:spPr>
          <a:xfrm>
            <a:off x="4297680" y="1325880"/>
            <a:ext cx="3520440" cy="452628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9" name="debdot1"/>
          <p:cNvSpPr/>
          <p:nvPr/>
        </p:nvSpPr>
        <p:spPr>
          <a:xfrm>
            <a:off x="4526280" y="1554480"/>
            <a:ext cx="320040" cy="320040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83480" y="1481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Pesimistas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10312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"Espada de Damocles" (Obstfeld y Rogoff): dólar −40% o más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 explosiva de la deuda (Roubini y Setser)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inmunidad a las crisis "no es un derecho de nacimiento" (Rubin)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 de elasticidades (1,8 vs. 0,8)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4389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2020–26: el colapso del dólar no llegó; pero en 2025 el dólar cayó ≈ 10% y la CC casi no se movió.</a:t>
            </a:r>
            <a:endParaRPr lang="en-US" sz="1300" dirty="0"/>
          </a:p>
        </p:txBody>
      </p:sp>
      <p:sp>
        <p:nvSpPr>
          <p:cNvPr id="13" name="deb2"/>
          <p:cNvSpPr/>
          <p:nvPr/>
        </p:nvSpPr>
        <p:spPr>
          <a:xfrm>
            <a:off x="8046720" y="1325880"/>
            <a:ext cx="3520440" cy="452628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4" name="debdot2"/>
          <p:cNvSpPr/>
          <p:nvPr/>
        </p:nvSpPr>
        <p:spPr>
          <a:xfrm>
            <a:off x="8275320" y="1554480"/>
            <a:ext cx="320040" cy="3200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32520" y="1481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Privilegio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10312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 oscura (Hausmann y Sturzenegger)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"Fusión fría" (Buiter)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Capitalista de riesgo mundial (Gourinchas y Rey)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"End of Privilege" (Atkeson, Heathcote y Perri)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4389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2020–26: el ingreso primario neto se volvió negativo; la PIIN se hundió por valoración. Sobrevive el diferencial en IED.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caso pp. 2–3 y 8–14; informe de investigación adjunto (BEA, Fed de Nueva York, FMI).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Manufactura: −4,6 millones de empleos mientras China gana peso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58521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675120" y="1325880"/>
          <a:ext cx="49377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Anexos 10a (BLS, empleo de julio; manufactura de 17,3 a 12,7 millones) y 11 (BEA). Variaciones: cálculo propio.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el caso dice mal: inconsistencias para no equivocarse</a:t>
            </a:r>
            <a:endParaRPr lang="en-US" sz="2800" dirty="0"/>
          </a:p>
        </p:txBody>
      </p:sp>
      <p:sp>
        <p:nvSpPr>
          <p:cNvPr id="3" name="inc0"/>
          <p:cNvSpPr/>
          <p:nvPr/>
        </p:nvSpPr>
        <p:spPr>
          <a:xfrm>
            <a:off x="548640" y="13258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BECE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PIIN de 2018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texto dice "US$ 9,6 billion"; el Anexo 6 da −US$ 9.674 mm (≈ −9,7 billones, −47% del PIB).</a:t>
            </a:r>
            <a:endParaRPr lang="en-US" sz="1300" dirty="0"/>
          </a:p>
        </p:txBody>
      </p:sp>
      <p:sp>
        <p:nvSpPr>
          <p:cNvPr id="6" name="inc1"/>
          <p:cNvSpPr/>
          <p:nvPr/>
        </p:nvSpPr>
        <p:spPr>
          <a:xfrm>
            <a:off x="6172200" y="1325880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BECE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PIIN negativa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8745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texto: 1986 a precios de mercado. La nota 51: 1986 a costo corriente y 1989 a precios de mercado.</a:t>
            </a:r>
            <a:endParaRPr lang="en-US" sz="1300" dirty="0"/>
          </a:p>
        </p:txBody>
      </p:sp>
      <p:sp>
        <p:nvSpPr>
          <p:cNvPr id="9" name="inc2"/>
          <p:cNvSpPr/>
          <p:nvPr/>
        </p:nvSpPr>
        <p:spPr>
          <a:xfrm>
            <a:off x="548640" y="2807208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BECE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944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fiscal 2000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35584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(p. 6), 2,4% (p. 7 y Anexo 3a) y 2,3% (Anexo 1a).</a:t>
            </a:r>
            <a:endParaRPr lang="en-US" sz="1300" dirty="0"/>
          </a:p>
        </p:txBody>
      </p:sp>
      <p:sp>
        <p:nvSpPr>
          <p:cNvPr id="12" name="inc3"/>
          <p:cNvSpPr/>
          <p:nvPr/>
        </p:nvSpPr>
        <p:spPr>
          <a:xfrm>
            <a:off x="6172200" y="2807208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BECE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2944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chino 2018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35584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US$ 50 mm en el texto; 25,5 en el Anexo 8.</a:t>
            </a:r>
            <a:endParaRPr lang="en-US" sz="1300" dirty="0"/>
          </a:p>
        </p:txBody>
      </p:sp>
      <p:sp>
        <p:nvSpPr>
          <p:cNvPr id="15" name="inc4"/>
          <p:cNvSpPr/>
          <p:nvPr/>
        </p:nvSpPr>
        <p:spPr>
          <a:xfrm>
            <a:off x="548640" y="4288536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BECE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4256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de The Economist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83717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"Ya en 2006" en el texto; la nota 111 la fecha el 9 de abril de 2005.</a:t>
            </a:r>
            <a:endParaRPr lang="en-US" sz="1300" dirty="0"/>
          </a:p>
        </p:txBody>
      </p:sp>
      <p:sp>
        <p:nvSpPr>
          <p:cNvPr id="18" name="inc5"/>
          <p:cNvSpPr/>
          <p:nvPr/>
        </p:nvSpPr>
        <p:spPr>
          <a:xfrm>
            <a:off x="6172200" y="4288536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BECE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44256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Anexos 7a, 10a y 10b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483717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duplicadas (7a), datos de relleno en 2019–2020 (10a) y filas desalineadas en 2017–2019 (10b).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caso HBS 9-706-002, original en inglés (texto, anexos y notas). Detalle en la Guía de estudio, Partes 2 y 7.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pasó después del caso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PIIN cerca de −90% del PIB, fin de la paradoja y aranceles que no cerraron el déficit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PIIN pasó de −52% a cerca de −90% del PIB en seis años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niipcard"/>
          <p:cNvSpPr/>
          <p:nvPr/>
        </p:nvSpPr>
        <p:spPr>
          <a:xfrm>
            <a:off x="8412480" y="1325880"/>
            <a:ext cx="3200400" cy="448056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641080" y="1554480"/>
            <a:ext cx="2788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−US$ 27,5 bill.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PIIN a fines de 2025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2/3 del deterioro desde 2019 viene de valoración (acciones de EE.UU. que superan a las extranjeras), no de flujos.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es aproximado (−88% a −90%).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Anexo 6 del caso (1980–2019); clase Desbalances globales (2020: −67%); BEA y Fed de Nueva York (2025).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ingreso primario neto se volvió negativo: fin de la paradoja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nicard"/>
          <p:cNvSpPr/>
          <p:nvPr/>
        </p:nvSpPr>
        <p:spPr>
          <a:xfrm>
            <a:off x="6949440" y="1325880"/>
            <a:ext cx="466344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178040" y="1554480"/>
            <a:ext cx="4206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cambió el signo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diferencial en IED sigue: 5,6% contra 1,8%.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la posición neta en instrumentos con interés es −US$ 15,1 bill. y los pagos netos de interés llegaron a −US$ 450 mm en 2025.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aumento de US$ 240 mm desde 2021, ≈ 170 se deben al alza de tasas.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Hoy, +1 pp de tasa resta ≈ US$ 150 mm al año (≈ 0,5% del PIB).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Anexo 4a del caso (2019); clase (2020); BEA, revisión de junio de 2026 (2025) y derivación propia (2024); Fed de Nueva York, Liberty Street, mayo 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aranceles reordenaron los déficits bilaterales, no el total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card"/>
          <p:cNvSpPr/>
          <p:nvPr/>
        </p:nvSpPr>
        <p:spPr>
          <a:xfrm>
            <a:off x="7680960" y="1325880"/>
            <a:ext cx="3931920" cy="4480560"/>
          </a:xfrm>
          <a:prstGeom prst="roundRect">
            <a:avLst>
              <a:gd name="adj" fmla="val 186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909560" y="1554480"/>
            <a:ext cx="3520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16%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Arancel efectivo antes del fallo de la Corte Suprema (feb. 2026), el más alto desde 1936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= S − I: sin más ahorro o menos inversión, el arancel desvía el comercio. El déficit fiscal siguió en ≈ 6% del PIB y el dólar cayó en vez de apreciarse.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BEA, comercio de bienes y servicios, diciembre y año 2025; Yale Budget Lab. Total 2025: US$ 901,5 mm contra 903,5 mm en 2024.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ideas para llevarse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9476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CC es un fenómeno de ahorro e inversión, no de aranceles.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PIIN la mueven tanto la valoración como los flujos: el dólar y las bolsas importan.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privilegio de EE.UU. se agotó como ingreso; la sostenibilidad depende ahora de r vs g.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379476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discutir</a:t>
            </a:r>
            <a:endParaRPr lang="en-US" sz="15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caída bursátil o del dólar mejora la PIIN sin que cambie S − I, ¿se resolvió el problema?</a:t>
            </a:r>
            <a:endParaRPr lang="en-US" sz="15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 (1/2): balanza de pagos y financiamiento</a:t>
            </a:r>
            <a:endParaRPr lang="en-US" sz="2800" dirty="0"/>
          </a:p>
        </p:txBody>
      </p:sp>
      <p:sp>
        <p:nvSpPr>
          <p:cNvPr id="3" name="gl00"/>
          <p:cNvSpPr/>
          <p:nvPr/>
        </p:nvSpPr>
        <p:spPr>
          <a:xfrm>
            <a:off x="548640" y="1280160"/>
            <a:ext cx="54406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898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corriente (CC)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3736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Balanza comercial + ingreso primario + ingreso secundario. Déficit = el país gasta más de lo que ingresa. Es un flujo.</a:t>
            </a:r>
            <a:endParaRPr lang="en-US" sz="1300" dirty="0"/>
          </a:p>
        </p:txBody>
      </p:sp>
      <p:sp>
        <p:nvSpPr>
          <p:cNvPr id="6" name="gl01"/>
          <p:cNvSpPr/>
          <p:nvPr/>
        </p:nvSpPr>
        <p:spPr>
          <a:xfrm>
            <a:off x="6172200" y="1280160"/>
            <a:ext cx="54406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0" y="13898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73736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externos menos pasivos externos (A − L). Negativa = deudor neto. Es un stock: ΔPIIN = CC + valoración.</a:t>
            </a:r>
            <a:endParaRPr lang="en-US" sz="1300" dirty="0"/>
          </a:p>
        </p:txBody>
      </p:sp>
      <p:sp>
        <p:nvSpPr>
          <p:cNvPr id="9" name="gl02"/>
          <p:cNvSpPr/>
          <p:nvPr/>
        </p:nvSpPr>
        <p:spPr>
          <a:xfrm>
            <a:off x="548640" y="2487168"/>
            <a:ext cx="54406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5968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de valoración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94436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la PIIN por precios de activos y tipo de cambio, sin transacciones.</a:t>
            </a:r>
            <a:endParaRPr lang="en-US" sz="1300" dirty="0"/>
          </a:p>
        </p:txBody>
      </p:sp>
      <p:sp>
        <p:nvSpPr>
          <p:cNvPr id="12" name="gl03"/>
          <p:cNvSpPr/>
          <p:nvPr/>
        </p:nvSpPr>
        <p:spPr>
          <a:xfrm>
            <a:off x="6172200" y="2487168"/>
            <a:ext cx="54406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25968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neto por inversión (INI)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94436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r_A·A − r_L·L. En EE. UU. fue positivo pese a la PIIN negativa (la paradoja); el ingreso primario neto pasó a ser negativo hacia 2024–2025.</a:t>
            </a:r>
            <a:endParaRPr lang="en-US" sz="1300" dirty="0"/>
          </a:p>
        </p:txBody>
      </p:sp>
      <p:sp>
        <p:nvSpPr>
          <p:cNvPr id="15" name="gl04"/>
          <p:cNvSpPr/>
          <p:nvPr/>
        </p:nvSpPr>
        <p:spPr>
          <a:xfrm>
            <a:off x="548640" y="3694176"/>
            <a:ext cx="54406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8039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Déficits gemelos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15137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fiscal y déficit en CC que se mueven juntos. Viene de CC = (S_p − I) + (T − G).</a:t>
            </a:r>
            <a:endParaRPr lang="en-US" sz="1300" dirty="0"/>
          </a:p>
        </p:txBody>
      </p:sp>
      <p:sp>
        <p:nvSpPr>
          <p:cNvPr id="18" name="gl05"/>
          <p:cNvSpPr/>
          <p:nvPr/>
        </p:nvSpPr>
        <p:spPr>
          <a:xfrm>
            <a:off x="6172200" y="3694176"/>
            <a:ext cx="54406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38039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Absorción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415137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C + I + G. CC = Y − A: un déficit significa absorber más de lo que se produce.</a:t>
            </a:r>
            <a:endParaRPr lang="en-US" sz="1300" dirty="0"/>
          </a:p>
        </p:txBody>
      </p:sp>
      <p:sp>
        <p:nvSpPr>
          <p:cNvPr id="21" name="gl06"/>
          <p:cNvSpPr/>
          <p:nvPr/>
        </p:nvSpPr>
        <p:spPr>
          <a:xfrm>
            <a:off x="548640" y="4901184"/>
            <a:ext cx="54406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010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Detención súbita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35838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abrupto del financiamiento externo que obliga a cerrar la CC de golpe.</a:t>
            </a:r>
            <a:endParaRPr lang="en-US" sz="1300" dirty="0"/>
          </a:p>
        </p:txBody>
      </p:sp>
      <p:sp>
        <p:nvSpPr>
          <p:cNvPr id="24" name="gl07"/>
          <p:cNvSpPr/>
          <p:nvPr/>
        </p:nvSpPr>
        <p:spPr>
          <a:xfrm>
            <a:off x="6172200" y="4901184"/>
            <a:ext cx="54406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0" y="5010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Pecado original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535838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poder endeudarse en moneda propia. EE. UU. no lo sufre: traslada el riesgo cambiario a sus acreedores.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 (2/2): debate y teoría</a:t>
            </a:r>
            <a:endParaRPr lang="en-US" sz="2800" dirty="0"/>
          </a:p>
        </p:txBody>
      </p:sp>
      <p:sp>
        <p:nvSpPr>
          <p:cNvPr id="3" name="gl10"/>
          <p:cNvSpPr/>
          <p:nvPr/>
        </p:nvSpPr>
        <p:spPr>
          <a:xfrm>
            <a:off x="548640" y="1280160"/>
            <a:ext cx="54406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898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Exceso de ahorro mundial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3736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Bernanke (2005): ahorro excesivo fuera de EE. UU. que baja las tasas y financia su déficit.</a:t>
            </a:r>
            <a:endParaRPr lang="en-US" sz="1300" dirty="0"/>
          </a:p>
        </p:txBody>
      </p:sp>
      <p:sp>
        <p:nvSpPr>
          <p:cNvPr id="6" name="gl11"/>
          <p:cNvSpPr/>
          <p:nvPr/>
        </p:nvSpPr>
        <p:spPr>
          <a:xfrm>
            <a:off x="6172200" y="1280160"/>
            <a:ext cx="54406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0" y="13898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Bretton Woods II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73736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fija su moneda al dólar y compra Treasuries para crecer exportando: financiamiento del proveedor.</a:t>
            </a:r>
            <a:endParaRPr lang="en-US" sz="1300" dirty="0"/>
          </a:p>
        </p:txBody>
      </p:sp>
      <p:sp>
        <p:nvSpPr>
          <p:cNvPr id="9" name="gl12"/>
          <p:cNvSpPr/>
          <p:nvPr/>
        </p:nvSpPr>
        <p:spPr>
          <a:xfrm>
            <a:off x="548640" y="2487168"/>
            <a:ext cx="54406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5968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 oscura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94436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de EE. UU. no medidos (know-how, liquidez, seguros) según Hausmann y Sturzenegger. PIIN verdadera = INI / r.</a:t>
            </a:r>
            <a:endParaRPr lang="en-US" sz="1300" dirty="0"/>
          </a:p>
        </p:txBody>
      </p:sp>
      <p:sp>
        <p:nvSpPr>
          <p:cNvPr id="12" name="gl13"/>
          <p:cNvSpPr/>
          <p:nvPr/>
        </p:nvSpPr>
        <p:spPr>
          <a:xfrm>
            <a:off x="6172200" y="2487168"/>
            <a:ext cx="54406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25968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Privilegio exorbitante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94436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del emisor de la moneda de reserva: se endeuda barato y en su moneda; diferencial de retorno positivo.</a:t>
            </a:r>
            <a:endParaRPr lang="en-US" sz="1300" dirty="0"/>
          </a:p>
        </p:txBody>
      </p:sp>
      <p:sp>
        <p:nvSpPr>
          <p:cNvPr id="15" name="gl14"/>
          <p:cNvSpPr/>
          <p:nvPr/>
        </p:nvSpPr>
        <p:spPr>
          <a:xfrm>
            <a:off x="548640" y="3694176"/>
            <a:ext cx="54406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8039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cambio real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15137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eP*/P. Si sube, hay depreciación real y ganancia de competitividad.</a:t>
            </a:r>
            <a:endParaRPr lang="en-US" sz="1300" dirty="0"/>
          </a:p>
        </p:txBody>
      </p:sp>
      <p:sp>
        <p:nvSpPr>
          <p:cNvPr id="18" name="gl15"/>
          <p:cNvSpPr/>
          <p:nvPr/>
        </p:nvSpPr>
        <p:spPr>
          <a:xfrm>
            <a:off x="6172200" y="3694176"/>
            <a:ext cx="54406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38039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Transables y no transables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415137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 que se comercian internacionalmente y bienes que solo se consumen localmente. Cerrar la CC exige abaratar los no transables.</a:t>
            </a:r>
            <a:endParaRPr lang="en-US" sz="1300" dirty="0"/>
          </a:p>
        </p:txBody>
      </p:sp>
      <p:sp>
        <p:nvSpPr>
          <p:cNvPr id="21" name="gl16"/>
          <p:cNvSpPr/>
          <p:nvPr/>
        </p:nvSpPr>
        <p:spPr>
          <a:xfrm>
            <a:off x="548640" y="4901184"/>
            <a:ext cx="54406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010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local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35838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Preferencia por invertir en el propio país. Cayó de 95% a 80% (1993–2002), según Greenspan.</a:t>
            </a:r>
            <a:endParaRPr lang="en-US" sz="1300" dirty="0"/>
          </a:p>
        </p:txBody>
      </p:sp>
      <p:sp>
        <p:nvSpPr>
          <p:cNvPr id="24" name="gl17"/>
          <p:cNvSpPr/>
          <p:nvPr/>
        </p:nvSpPr>
        <p:spPr>
          <a:xfrm>
            <a:off x="6172200" y="4901184"/>
            <a:ext cx="544068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0" y="5010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r vs g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535838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PIIN/PIB se estabiliza si tb = −[(r − g)/(1 + g)]·b. Con r &gt; g, un deudor necesita superávit.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icit Externo">
  <a:themeElements>
    <a:clrScheme name="Deficit Externo">
      <a:dk1>
        <a:srgbClr val="1C2329"/>
      </a:dk1>
      <a:lt1>
        <a:srgbClr val="FFFFFF"/>
      </a:lt1>
      <a:dk2>
        <a:srgbClr val="0F3D3E"/>
      </a:dk2>
      <a:lt2>
        <a:srgbClr val="E6EEEA"/>
      </a:lt2>
      <a:accent1>
        <a:srgbClr val="0F3D3E"/>
      </a:accent1>
      <a:accent2>
        <a:srgbClr val="C8553D"/>
      </a:accent2>
      <a:accent3>
        <a:srgbClr val="D9A441"/>
      </a:accent3>
      <a:accent4>
        <a:srgbClr val="5E8C7E"/>
      </a:accent4>
      <a:accent5>
        <a:srgbClr val="8A9BA8"/>
      </a:accent5>
      <a:accent6>
        <a:srgbClr val="2F5D8A"/>
      </a:accent6>
      <a:hlink>
        <a:srgbClr val="2F5D8A"/>
      </a:hlink>
      <a:folHlink>
        <a:srgbClr val="5E8C7E"/>
      </a:folHlink>
    </a:clrScheme>
    <a:fontScheme name="Deficit Extern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déficit en cuenta corriente de EE.UU.</dc:title>
  <dc:subject>PptxGenJS Presentation</dc:subject>
  <dc:creator>Guía MAE</dc:creator>
  <cp:lastModifiedBy>Guía MAE</cp:lastModifiedBy>
  <cp:revision>1</cp:revision>
  <dcterms:created xsi:type="dcterms:W3CDTF">2026-10-15T00:03:25Z</dcterms:created>
  <dcterms:modified xsi:type="dcterms:W3CDTF">2026-10-15T00:03:25Z</dcterms:modified>
</cp:coreProperties>
</file>